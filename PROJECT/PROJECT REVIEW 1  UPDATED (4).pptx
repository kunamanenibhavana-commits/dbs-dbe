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6D64C43-D457-412B-A96E-172E4AC33249}">
          <p14:sldIdLst>
            <p14:sldId id="258"/>
            <p14:sldId id="377"/>
            <p14:sldId id="391"/>
            <p14:sldId id="392"/>
            <p14:sldId id="393"/>
            <p14:sldId id="394"/>
            <p14:sldId id="395"/>
            <p14:sldId id="396"/>
            <p14:sldId id="398"/>
            <p14:sldId id="397"/>
            <p14:sldId id="374"/>
            <p14:sldId id="33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96" autoAdjust="0"/>
    <p:restoredTop sz="95033" autoAdjust="0"/>
  </p:normalViewPr>
  <p:slideViewPr>
    <p:cSldViewPr snapToGrid="0" snapToObjects="1">
      <p:cViewPr varScale="1">
        <p:scale>
          <a:sx n="78" d="100"/>
          <a:sy n="78" d="100"/>
        </p:scale>
        <p:origin x="826" y="7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8/17/2026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17-08-2026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17-08-2026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17-08-2026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17-08-2026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17-08-2026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17-08-2026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17-08-2026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17-08-2026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17-08-2026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17-08-2026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17-08-2026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17-08-2026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17-08-2026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17-08-2026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17-08-2026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17-08-2026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17-08-2026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17-08-2026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IN" sz="2400" b="1" dirty="0">
                <a:solidFill>
                  <a:schemeClr val="accent1"/>
                </a:solidFill>
              </a:rPr>
              <a:t>Gym &amp; Fitness Club Management System</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Dr.Y</a:t>
            </a:r>
            <a:r>
              <a:rPr lang="en-US" sz="2400" dirty="0">
                <a:solidFill>
                  <a:srgbClr val="00B050"/>
                </a:solidFill>
              </a:rPr>
              <a:t>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01596727"/>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K.BHAVANA</a:t>
                      </a:r>
                    </a:p>
                  </a:txBody>
                  <a:tcPr/>
                </a:tc>
                <a:tc>
                  <a:txBody>
                    <a:bodyPr/>
                    <a:lstStyle/>
                    <a:p>
                      <a:r>
                        <a:rPr lang="en-US" dirty="0"/>
                        <a:t>2520030003</a:t>
                      </a:r>
                    </a:p>
                  </a:txBody>
                  <a:tcPr/>
                </a:tc>
                <a:extLst>
                  <a:ext uri="{0D108BD9-81ED-4DB2-BD59-A6C34878D82A}">
                    <a16:rowId xmlns:a16="http://schemas.microsoft.com/office/drawing/2014/main" val="253518174"/>
                  </a:ext>
                </a:extLst>
              </a:tr>
              <a:tr h="370840">
                <a:tc>
                  <a:txBody>
                    <a:bodyPr/>
                    <a:lstStyle/>
                    <a:p>
                      <a:r>
                        <a:rPr lang="en-US" dirty="0"/>
                        <a:t>A.AMULYA</a:t>
                      </a:r>
                    </a:p>
                  </a:txBody>
                  <a:tcPr/>
                </a:tc>
                <a:tc>
                  <a:txBody>
                    <a:bodyPr/>
                    <a:lstStyle/>
                    <a:p>
                      <a:r>
                        <a:rPr lang="en-US" dirty="0"/>
                        <a:t>2520030032</a:t>
                      </a:r>
                    </a:p>
                  </a:txBody>
                  <a:tcPr/>
                </a:tc>
                <a:extLst>
                  <a:ext uri="{0D108BD9-81ED-4DB2-BD59-A6C34878D82A}">
                    <a16:rowId xmlns:a16="http://schemas.microsoft.com/office/drawing/2014/main" val="2413438055"/>
                  </a:ext>
                </a:extLst>
              </a:tr>
              <a:tr h="370840">
                <a:tc>
                  <a:txBody>
                    <a:bodyPr/>
                    <a:lstStyle/>
                    <a:p>
                      <a:r>
                        <a:rPr lang="en-US" dirty="0"/>
                        <a:t>M.NIHAL</a:t>
                      </a:r>
                    </a:p>
                  </a:txBody>
                  <a:tcPr/>
                </a:tc>
                <a:tc>
                  <a:txBody>
                    <a:bodyPr/>
                    <a:lstStyle/>
                    <a:p>
                      <a:r>
                        <a:rPr lang="en-US" dirty="0"/>
                        <a:t>2520030124</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2553399050"/>
              </p:ext>
            </p:extLst>
          </p:nvPr>
        </p:nvGraphicFramePr>
        <p:xfrm>
          <a:off x="838199" y="1416193"/>
          <a:ext cx="10515600" cy="2307967"/>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a:t>K.BHAVANA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2520030003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US" dirty="0"/>
                        <a:t>A.AMULYA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2520030032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r>
                        <a:rPr lang="en-US" dirty="0"/>
                        <a:t>M.NIHAL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2520030124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a:xfrm>
            <a:off x="838200" y="145897"/>
            <a:ext cx="10515600" cy="1325563"/>
          </a:xfrm>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127819" y="1268360"/>
            <a:ext cx="11552903" cy="5358581"/>
          </a:xfrm>
        </p:spPr>
        <p:txBody>
          <a:bodyPr>
            <a:normAutofit/>
          </a:bodyPr>
          <a:lstStyle/>
          <a:p>
            <a:pPr marL="0" indent="0" algn="just">
              <a:lnSpc>
                <a:spcPct val="100000"/>
              </a:lnSpc>
              <a:buNone/>
            </a:pPr>
            <a:r>
              <a:rPr lang="en-IN" sz="2100" dirty="0">
                <a:latin typeface="Times New Roman" panose="02020603050405020304" pitchFamily="18" charset="0"/>
                <a:cs typeface="Times New Roman" panose="02020603050405020304" pitchFamily="18" charset="0"/>
              </a:rPr>
              <a:t>The Gym &amp; Fitness Club Management System is a simple and integrated platform that helps fitness </a:t>
            </a:r>
            <a:r>
              <a:rPr lang="en-IN" sz="2100" dirty="0" err="1">
                <a:latin typeface="Times New Roman" panose="02020603050405020304" pitchFamily="18" charset="0"/>
                <a:cs typeface="Times New Roman" panose="02020603050405020304" pitchFamily="18" charset="0"/>
              </a:rPr>
              <a:t>center</a:t>
            </a:r>
            <a:r>
              <a:rPr lang="en-IN" sz="2100" dirty="0">
                <a:latin typeface="Times New Roman" panose="02020603050405020304" pitchFamily="18" charset="0"/>
                <a:cs typeface="Times New Roman" panose="02020603050405020304" pitchFamily="18" charset="0"/>
              </a:rPr>
              <a:t> manage their daily activities and member services efficiently. It brings features such as membership management, plan renewal, QR-based attendance, trainer and class schedules, workout and diet plans, payments, and fitness progress tracking into one system.</a:t>
            </a:r>
          </a:p>
          <a:p>
            <a:pPr marL="0" indent="0" algn="just">
              <a:lnSpc>
                <a:spcPct val="100000"/>
              </a:lnSpc>
              <a:buNone/>
            </a:pPr>
            <a:r>
              <a:rPr lang="en-IN" sz="2100" dirty="0">
                <a:latin typeface="Times New Roman" panose="02020603050405020304" pitchFamily="18" charset="0"/>
                <a:cs typeface="Times New Roman" panose="02020603050405020304" pitchFamily="18" charset="0"/>
              </a:rPr>
              <a:t>Administrators can manage members, trainers, memberships, payments, and other gym activities easily. Trainers can create personalized workout and diet plans and monitor the progress of members. Members can manage their subscriptions, make payments, check their workout and diet plans, mark attendance using QR codes, and track their fitness progress.</a:t>
            </a:r>
          </a:p>
          <a:p>
            <a:pPr marL="0" indent="0" algn="just">
              <a:lnSpc>
                <a:spcPct val="100000"/>
              </a:lnSpc>
              <a:buNone/>
            </a:pPr>
            <a:r>
              <a:rPr lang="en-IN" sz="2100" dirty="0">
                <a:latin typeface="Times New Roman" panose="02020603050405020304" pitchFamily="18" charset="0"/>
                <a:cs typeface="Times New Roman" panose="02020603050405020304" pitchFamily="18" charset="0"/>
              </a:rPr>
              <a:t>The system reduces paperwork and manual work, improves accuracy, and makes communication between administrators, trainers, and members easier. Overall, it provides a convenient and user-friendly solution for managing a fitness club while helping members stay engaged and achieve their fitness goals.</a:t>
            </a: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a:xfrm>
            <a:off x="739877" y="1614897"/>
            <a:ext cx="10960511" cy="4741453"/>
          </a:xfrm>
        </p:spPr>
        <p:txBody>
          <a:bodyPr>
            <a:normAutofit/>
          </a:bodyPr>
          <a:lstStyle/>
          <a:p>
            <a:pPr marL="0" indent="0" algn="just">
              <a:buNone/>
            </a:pPr>
            <a:r>
              <a:rPr lang="en-IN" sz="2100" dirty="0">
                <a:latin typeface="Times New Roman" panose="02020603050405020304" pitchFamily="18" charset="0"/>
                <a:cs typeface="Times New Roman" panose="02020603050405020304" pitchFamily="18" charset="0"/>
              </a:rPr>
              <a:t>The Gym &amp; Fitness Club Management System is a modern digital platform designed to make fitness </a:t>
            </a:r>
            <a:r>
              <a:rPr lang="en-IN" sz="2100" dirty="0" err="1">
                <a:latin typeface="Times New Roman" panose="02020603050405020304" pitchFamily="18" charset="0"/>
                <a:cs typeface="Times New Roman" panose="02020603050405020304" pitchFamily="18" charset="0"/>
              </a:rPr>
              <a:t>center</a:t>
            </a:r>
            <a:r>
              <a:rPr lang="en-IN" sz="2100" dirty="0">
                <a:latin typeface="Times New Roman" panose="02020603050405020304" pitchFamily="18" charset="0"/>
                <a:cs typeface="Times New Roman" panose="02020603050405020304" pitchFamily="18" charset="0"/>
              </a:rPr>
              <a:t> management easier and more efficient. It brings important gym activities such as membership management, attendance, trainer and class schedules, workout and diet plans, payments, and progress tracking into one </a:t>
            </a:r>
            <a:r>
              <a:rPr lang="en-IN" sz="2100" dirty="0" err="1">
                <a:latin typeface="Times New Roman" panose="02020603050405020304" pitchFamily="18" charset="0"/>
                <a:cs typeface="Times New Roman" panose="02020603050405020304" pitchFamily="18" charset="0"/>
              </a:rPr>
              <a:t>system.The</a:t>
            </a:r>
            <a:r>
              <a:rPr lang="en-IN" sz="2100" dirty="0">
                <a:latin typeface="Times New Roman" panose="02020603050405020304" pitchFamily="18" charset="0"/>
                <a:cs typeface="Times New Roman" panose="02020603050405020304" pitchFamily="18" charset="0"/>
              </a:rPr>
              <a:t> system connects administrators, trainers, and members through a simple and user-friendly interface. Technologies such as React.js, Node.js, Express, MySQL, </a:t>
            </a:r>
            <a:r>
              <a:rPr lang="en-IN" sz="2100" dirty="0" err="1">
                <a:latin typeface="Times New Roman" panose="02020603050405020304" pitchFamily="18" charset="0"/>
                <a:cs typeface="Times New Roman" panose="02020603050405020304" pitchFamily="18" charset="0"/>
              </a:rPr>
              <a:t>Razorpay</a:t>
            </a:r>
            <a:r>
              <a:rPr lang="en-IN" sz="2100" dirty="0">
                <a:latin typeface="Times New Roman" panose="02020603050405020304" pitchFamily="18" charset="0"/>
                <a:cs typeface="Times New Roman" panose="02020603050405020304" pitchFamily="18" charset="0"/>
              </a:rPr>
              <a:t>, and QR-based attendance are used to provide convenient and reliable services. Members can easily access their fitness information, plans, payments, and attendance, while administrators and trainers can manage gym activities in an organized </a:t>
            </a:r>
            <a:r>
              <a:rPr lang="en-IN" sz="2100" dirty="0" err="1">
                <a:latin typeface="Times New Roman" panose="02020603050405020304" pitchFamily="18" charset="0"/>
                <a:cs typeface="Times New Roman" panose="02020603050405020304" pitchFamily="18" charset="0"/>
              </a:rPr>
              <a:t>way.Overall</a:t>
            </a:r>
            <a:r>
              <a:rPr lang="en-IN" sz="2100" dirty="0">
                <a:latin typeface="Times New Roman" panose="02020603050405020304" pitchFamily="18" charset="0"/>
                <a:cs typeface="Times New Roman" panose="02020603050405020304" pitchFamily="18" charset="0"/>
              </a:rPr>
              <a:t>, the system provides a smart, connected, and efficient solution for managing a fitness club while improving the experience for both gym members and staff.</a:t>
            </a:r>
          </a:p>
          <a:p>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a:xfrm>
            <a:off x="720213" y="29265"/>
            <a:ext cx="10515600" cy="1325563"/>
          </a:xfrm>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a:xfrm>
            <a:off x="240890" y="1185914"/>
            <a:ext cx="11710220" cy="5545392"/>
          </a:xfrm>
        </p:spPr>
        <p:txBody>
          <a:bodyPr>
            <a:noAutofit/>
          </a:bodyPr>
          <a:lstStyle/>
          <a:p>
            <a:pPr lvl="0"/>
            <a:r>
              <a:rPr lang="en-IN" sz="2100" dirty="0">
                <a:latin typeface="Times New Roman" panose="02020603050405020304" pitchFamily="18" charset="0"/>
                <a:cs typeface="Times New Roman" panose="02020603050405020304" pitchFamily="18" charset="0"/>
              </a:rPr>
              <a:t>Many gyms manage their daily activities using </a:t>
            </a:r>
            <a:r>
              <a:rPr lang="en-IN" sz="2100" b="1" dirty="0">
                <a:latin typeface="Times New Roman" panose="02020603050405020304" pitchFamily="18" charset="0"/>
                <a:cs typeface="Times New Roman" panose="02020603050405020304" pitchFamily="18" charset="0"/>
              </a:rPr>
              <a:t>manual records, spreadsheets, or separate applications</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Member details, membership plans, renewals, attendance, and payments are maintained </a:t>
            </a:r>
            <a:r>
              <a:rPr lang="en-IN" sz="2100" b="1" dirty="0">
                <a:latin typeface="Times New Roman" panose="02020603050405020304" pitchFamily="18" charset="0"/>
                <a:cs typeface="Times New Roman" panose="02020603050405020304" pitchFamily="18" charset="0"/>
              </a:rPr>
              <a:t>separately</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Attendance is often recorded using </a:t>
            </a:r>
            <a:r>
              <a:rPr lang="en-IN" sz="2100" b="1" dirty="0">
                <a:latin typeface="Times New Roman" panose="02020603050405020304" pitchFamily="18" charset="0"/>
                <a:cs typeface="Times New Roman" panose="02020603050405020304" pitchFamily="18" charset="0"/>
              </a:rPr>
              <a:t>registers or basic digital methods</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Payment and membership information may be </a:t>
            </a:r>
            <a:r>
              <a:rPr lang="en-IN" sz="2100" b="1" dirty="0">
                <a:latin typeface="Times New Roman" panose="02020603050405020304" pitchFamily="18" charset="0"/>
                <a:cs typeface="Times New Roman" panose="02020603050405020304" pitchFamily="18" charset="0"/>
              </a:rPr>
              <a:t>tracked manually</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Trainers may provide </a:t>
            </a:r>
            <a:r>
              <a:rPr lang="en-IN" sz="2100" b="1" dirty="0">
                <a:latin typeface="Times New Roman" panose="02020603050405020304" pitchFamily="18" charset="0"/>
                <a:cs typeface="Times New Roman" panose="02020603050405020304" pitchFamily="18" charset="0"/>
              </a:rPr>
              <a:t>workout and diet plans through paper records or direct communication</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It is difficult to </a:t>
            </a:r>
            <a:r>
              <a:rPr lang="en-IN" sz="2100" b="1" dirty="0">
                <a:latin typeface="Times New Roman" panose="02020603050405020304" pitchFamily="18" charset="0"/>
                <a:cs typeface="Times New Roman" panose="02020603050405020304" pitchFamily="18" charset="0"/>
              </a:rPr>
              <a:t>track changes in workout plans and member progress</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There is no </a:t>
            </a:r>
            <a:r>
              <a:rPr lang="en-IN" sz="2100" b="1" dirty="0">
                <a:latin typeface="Times New Roman" panose="02020603050405020304" pitchFamily="18" charset="0"/>
                <a:cs typeface="Times New Roman" panose="02020603050405020304" pitchFamily="18" charset="0"/>
              </a:rPr>
              <a:t>single centralized platform</a:t>
            </a:r>
            <a:r>
              <a:rPr lang="en-IN" sz="2100" dirty="0">
                <a:latin typeface="Times New Roman" panose="02020603050405020304" pitchFamily="18" charset="0"/>
                <a:cs typeface="Times New Roman" panose="02020603050405020304" pitchFamily="18" charset="0"/>
              </a:rPr>
              <a:t> connecting administrators, trainers, and members. </a:t>
            </a:r>
          </a:p>
          <a:p>
            <a:pPr lvl="0"/>
            <a:r>
              <a:rPr lang="en-IN" sz="2100" dirty="0">
                <a:latin typeface="Times New Roman" panose="02020603050405020304" pitchFamily="18" charset="0"/>
                <a:cs typeface="Times New Roman" panose="02020603050405020304" pitchFamily="18" charset="0"/>
              </a:rPr>
              <a:t>Manual data entry can lead to </a:t>
            </a:r>
            <a:r>
              <a:rPr lang="en-IN" sz="2100" b="1" dirty="0">
                <a:latin typeface="Times New Roman" panose="02020603050405020304" pitchFamily="18" charset="0"/>
                <a:cs typeface="Times New Roman" panose="02020603050405020304" pitchFamily="18" charset="0"/>
              </a:rPr>
              <a:t>errors and inaccurate records</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Monitoring and </a:t>
            </a:r>
            <a:r>
              <a:rPr lang="en-IN" sz="2100" dirty="0" err="1">
                <a:latin typeface="Times New Roman" panose="02020603050405020304" pitchFamily="18" charset="0"/>
                <a:cs typeface="Times New Roman" panose="02020603050405020304" pitchFamily="18" charset="0"/>
              </a:rPr>
              <a:t>analyzing</a:t>
            </a:r>
            <a:r>
              <a:rPr lang="en-IN" sz="2100" dirty="0">
                <a:latin typeface="Times New Roman" panose="02020603050405020304" pitchFamily="18" charset="0"/>
                <a:cs typeface="Times New Roman" panose="02020603050405020304" pitchFamily="18" charset="0"/>
              </a:rPr>
              <a:t> </a:t>
            </a:r>
            <a:r>
              <a:rPr lang="en-IN" sz="2100" b="1" dirty="0">
                <a:latin typeface="Times New Roman" panose="02020603050405020304" pitchFamily="18" charset="0"/>
                <a:cs typeface="Times New Roman" panose="02020603050405020304" pitchFamily="18" charset="0"/>
              </a:rPr>
              <a:t>member fitness progress</a:t>
            </a:r>
            <a:r>
              <a:rPr lang="en-IN" sz="2100" dirty="0">
                <a:latin typeface="Times New Roman" panose="02020603050405020304" pitchFamily="18" charset="0"/>
                <a:cs typeface="Times New Roman" panose="02020603050405020304" pitchFamily="18" charset="0"/>
              </a:rPr>
              <a:t> is difficult. </a:t>
            </a:r>
          </a:p>
          <a:p>
            <a:pPr lvl="0"/>
            <a:r>
              <a:rPr lang="en-IN" sz="2100" dirty="0">
                <a:latin typeface="Times New Roman" panose="02020603050405020304" pitchFamily="18" charset="0"/>
                <a:cs typeface="Times New Roman" panose="02020603050405020304" pitchFamily="18" charset="0"/>
              </a:rPr>
              <a:t>The existing system requires </a:t>
            </a:r>
            <a:r>
              <a:rPr lang="en-IN" sz="2100" b="1" dirty="0">
                <a:latin typeface="Times New Roman" panose="02020603050405020304" pitchFamily="18" charset="0"/>
                <a:cs typeface="Times New Roman" panose="02020603050405020304" pitchFamily="18" charset="0"/>
              </a:rPr>
              <a:t>more manual effort and administrative work</a:t>
            </a:r>
            <a:r>
              <a:rPr lang="en-IN" sz="21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a:xfrm>
            <a:off x="462116" y="391704"/>
            <a:ext cx="10515600" cy="1325563"/>
          </a:xfrm>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a:xfrm>
            <a:off x="304800" y="1425676"/>
            <a:ext cx="11425084" cy="5211097"/>
          </a:xfrm>
        </p:spPr>
        <p:txBody>
          <a:bodyPr>
            <a:normAutofit/>
          </a:bodyPr>
          <a:lstStyle/>
          <a:p>
            <a:pPr marL="0" indent="0" algn="just">
              <a:buNone/>
            </a:pPr>
            <a:r>
              <a:rPr lang="en-IN" sz="2100" dirty="0">
                <a:latin typeface="Times New Roman" panose="02020603050405020304" pitchFamily="18" charset="0"/>
                <a:cs typeface="Times New Roman" panose="02020603050405020304" pitchFamily="18" charset="0"/>
              </a:rPr>
              <a:t>In today’s fast-paced fitness environment, managing a gym or fitness club efficiently requires more than just maintaining member records and attendance registers. Fitness </a:t>
            </a:r>
            <a:r>
              <a:rPr lang="en-IN" sz="2100" dirty="0" err="1">
                <a:latin typeface="Times New Roman" panose="02020603050405020304" pitchFamily="18" charset="0"/>
                <a:cs typeface="Times New Roman" panose="02020603050405020304" pitchFamily="18" charset="0"/>
              </a:rPr>
              <a:t>centers</a:t>
            </a:r>
            <a:r>
              <a:rPr lang="en-IN" sz="2100" dirty="0">
                <a:latin typeface="Times New Roman" panose="02020603050405020304" pitchFamily="18" charset="0"/>
                <a:cs typeface="Times New Roman" panose="02020603050405020304" pitchFamily="18" charset="0"/>
              </a:rPr>
              <a:t> handle multiple activities such as memberships, renewals, trainer schedules, fitness classes, payments, workout routines, diet plans, and member progress, making traditional manual management time-consuming and difficult to maintain accurately. A lack of coordination between these activities can lead to delays, errors, poor communication, and a less convenient experience for both members and staff. To address these challenges, the Gym &amp; Fitness Club Management System is designed as a centralized digital platform that brings essential fitness club operations together in one place. The system aims to simplify daily management, improve accessibility of information, reduce administrative effort, and provide members with a more organized and personalized fitness experience. By introducing automation and digital management into fitness </a:t>
            </a:r>
            <a:r>
              <a:rPr lang="en-IN" sz="2100" dirty="0" err="1">
                <a:latin typeface="Times New Roman" panose="02020603050405020304" pitchFamily="18" charset="0"/>
                <a:cs typeface="Times New Roman" panose="02020603050405020304" pitchFamily="18" charset="0"/>
              </a:rPr>
              <a:t>centers</a:t>
            </a:r>
            <a:r>
              <a:rPr lang="en-IN" sz="2100" dirty="0">
                <a:latin typeface="Times New Roman" panose="02020603050405020304" pitchFamily="18" charset="0"/>
                <a:cs typeface="Times New Roman" panose="02020603050405020304" pitchFamily="18" charset="0"/>
              </a:rPr>
              <a:t>, the proposed system creates a more efficient, transparent, and user-friendly environment while supporting better interaction between administrators, trainers, and members. </a:t>
            </a:r>
          </a:p>
          <a:p>
            <a:endParaRPr lang="en-US"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a:xfrm>
            <a:off x="914400" y="153730"/>
            <a:ext cx="10439400" cy="1021223"/>
          </a:xfrm>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a:xfrm>
            <a:off x="157316" y="1087591"/>
            <a:ext cx="11887199" cy="5633884"/>
          </a:xfrm>
        </p:spPr>
        <p:txBody>
          <a:bodyPr>
            <a:noAutofit/>
          </a:bodyPr>
          <a:lstStyle/>
          <a:p>
            <a:pPr lvl="0" algn="just"/>
            <a:r>
              <a:rPr lang="en-IN" sz="1900" dirty="0">
                <a:latin typeface="Times New Roman" panose="02020603050405020304" pitchFamily="18" charset="0"/>
                <a:cs typeface="Times New Roman" panose="02020603050405020304" pitchFamily="18" charset="0"/>
              </a:rPr>
              <a:t>Develops a </a:t>
            </a:r>
            <a:r>
              <a:rPr lang="en-IN" sz="1900" b="1" dirty="0">
                <a:latin typeface="Times New Roman" panose="02020603050405020304" pitchFamily="18" charset="0"/>
                <a:cs typeface="Times New Roman" panose="02020603050405020304" pitchFamily="18" charset="0"/>
              </a:rPr>
              <a:t>centralized Gym &amp; Fitness Club Management System</a:t>
            </a:r>
            <a:r>
              <a:rPr lang="en-IN" sz="1900" dirty="0">
                <a:latin typeface="Times New Roman" panose="02020603050405020304" pitchFamily="18" charset="0"/>
                <a:cs typeface="Times New Roman" panose="02020603050405020304" pitchFamily="18" charset="0"/>
              </a:rPr>
              <a:t> to manage all gym activities in one platform. </a:t>
            </a:r>
          </a:p>
          <a:p>
            <a:pPr lvl="0" algn="just"/>
            <a:r>
              <a:rPr lang="en-IN" sz="1900" dirty="0">
                <a:latin typeface="Times New Roman" panose="02020603050405020304" pitchFamily="18" charset="0"/>
                <a:cs typeface="Times New Roman" panose="02020603050405020304" pitchFamily="18" charset="0"/>
              </a:rPr>
              <a:t>Provides </a:t>
            </a:r>
            <a:r>
              <a:rPr lang="en-IN" sz="1900" b="1" dirty="0">
                <a:latin typeface="Times New Roman" panose="02020603050405020304" pitchFamily="18" charset="0"/>
                <a:cs typeface="Times New Roman" panose="02020603050405020304" pitchFamily="18" charset="0"/>
              </a:rPr>
              <a:t>digital membership management</a:t>
            </a:r>
            <a:r>
              <a:rPr lang="en-IN" sz="1900" dirty="0">
                <a:latin typeface="Times New Roman" panose="02020603050405020304" pitchFamily="18" charset="0"/>
                <a:cs typeface="Times New Roman" panose="02020603050405020304" pitchFamily="18" charset="0"/>
              </a:rPr>
              <a:t>, including membership plans, renewals, and subscription details. </a:t>
            </a:r>
          </a:p>
          <a:p>
            <a:pPr lvl="0" algn="just"/>
            <a:r>
              <a:rPr lang="en-IN" sz="1900" dirty="0">
                <a:latin typeface="Times New Roman" panose="02020603050405020304" pitchFamily="18" charset="0"/>
                <a:cs typeface="Times New Roman" panose="02020603050405020304" pitchFamily="18" charset="0"/>
              </a:rPr>
              <a:t>Implements </a:t>
            </a:r>
            <a:r>
              <a:rPr lang="en-IN" sz="1900" b="1" dirty="0">
                <a:latin typeface="Times New Roman" panose="02020603050405020304" pitchFamily="18" charset="0"/>
                <a:cs typeface="Times New Roman" panose="02020603050405020304" pitchFamily="18" charset="0"/>
              </a:rPr>
              <a:t>QR-based attendance</a:t>
            </a:r>
            <a:r>
              <a:rPr lang="en-IN" sz="1900" dirty="0">
                <a:latin typeface="Times New Roman" panose="02020603050405020304" pitchFamily="18" charset="0"/>
                <a:cs typeface="Times New Roman" panose="02020603050405020304" pitchFamily="18" charset="0"/>
              </a:rPr>
              <a:t> to make attendance marking faster and easier. </a:t>
            </a:r>
          </a:p>
          <a:p>
            <a:pPr lvl="0" algn="just"/>
            <a:r>
              <a:rPr lang="en-IN" sz="1900" dirty="0">
                <a:latin typeface="Times New Roman" panose="02020603050405020304" pitchFamily="18" charset="0"/>
                <a:cs typeface="Times New Roman" panose="02020603050405020304" pitchFamily="18" charset="0"/>
              </a:rPr>
              <a:t>Provides </a:t>
            </a:r>
            <a:r>
              <a:rPr lang="en-IN" sz="1900" b="1" dirty="0">
                <a:latin typeface="Times New Roman" panose="02020603050405020304" pitchFamily="18" charset="0"/>
                <a:cs typeface="Times New Roman" panose="02020603050405020304" pitchFamily="18" charset="0"/>
              </a:rPr>
              <a:t>online payment and dues management</a:t>
            </a:r>
            <a:r>
              <a:rPr lang="en-IN" sz="1900" dirty="0">
                <a:latin typeface="Times New Roman" panose="02020603050405020304" pitchFamily="18" charset="0"/>
                <a:cs typeface="Times New Roman" panose="02020603050405020304" pitchFamily="18" charset="0"/>
              </a:rPr>
              <a:t> using </a:t>
            </a:r>
            <a:r>
              <a:rPr lang="en-IN" sz="1900" b="1" dirty="0" err="1">
                <a:latin typeface="Times New Roman" panose="02020603050405020304" pitchFamily="18" charset="0"/>
                <a:cs typeface="Times New Roman" panose="02020603050405020304" pitchFamily="18" charset="0"/>
              </a:rPr>
              <a:t>Razorpay</a:t>
            </a:r>
            <a:r>
              <a:rPr lang="en-IN" sz="1900" dirty="0">
                <a:latin typeface="Times New Roman" panose="02020603050405020304" pitchFamily="18" charset="0"/>
                <a:cs typeface="Times New Roman" panose="02020603050405020304" pitchFamily="18" charset="0"/>
              </a:rPr>
              <a:t>. </a:t>
            </a:r>
          </a:p>
          <a:p>
            <a:pPr lvl="0" algn="just"/>
            <a:r>
              <a:rPr lang="en-IN" sz="1900" dirty="0">
                <a:latin typeface="Times New Roman" panose="02020603050405020304" pitchFamily="18" charset="0"/>
                <a:cs typeface="Times New Roman" panose="02020603050405020304" pitchFamily="18" charset="0"/>
              </a:rPr>
              <a:t>Allows administrators to efficiently manage </a:t>
            </a:r>
            <a:r>
              <a:rPr lang="en-IN" sz="1900" b="1" dirty="0">
                <a:latin typeface="Times New Roman" panose="02020603050405020304" pitchFamily="18" charset="0"/>
                <a:cs typeface="Times New Roman" panose="02020603050405020304" pitchFamily="18" charset="0"/>
              </a:rPr>
              <a:t>members, trainers, memberships, payments, and gym activities</a:t>
            </a:r>
            <a:r>
              <a:rPr lang="en-IN" sz="1900" dirty="0">
                <a:latin typeface="Times New Roman" panose="02020603050405020304" pitchFamily="18" charset="0"/>
                <a:cs typeface="Times New Roman" panose="02020603050405020304" pitchFamily="18" charset="0"/>
              </a:rPr>
              <a:t>. </a:t>
            </a:r>
          </a:p>
          <a:p>
            <a:pPr lvl="0" algn="just"/>
            <a:r>
              <a:rPr lang="en-IN" sz="1900" dirty="0">
                <a:latin typeface="Times New Roman" panose="02020603050405020304" pitchFamily="18" charset="0"/>
                <a:cs typeface="Times New Roman" panose="02020603050405020304" pitchFamily="18" charset="0"/>
              </a:rPr>
              <a:t>Enables trainers to create and manage </a:t>
            </a:r>
            <a:r>
              <a:rPr lang="en-IN" sz="1900" b="1" dirty="0">
                <a:latin typeface="Times New Roman" panose="02020603050405020304" pitchFamily="18" charset="0"/>
                <a:cs typeface="Times New Roman" panose="02020603050405020304" pitchFamily="18" charset="0"/>
              </a:rPr>
              <a:t>personalized workout and diet plans</a:t>
            </a:r>
            <a:r>
              <a:rPr lang="en-IN" sz="1900" dirty="0">
                <a:latin typeface="Times New Roman" panose="02020603050405020304" pitchFamily="18" charset="0"/>
                <a:cs typeface="Times New Roman" panose="02020603050405020304" pitchFamily="18" charset="0"/>
              </a:rPr>
              <a:t> for members. </a:t>
            </a:r>
          </a:p>
          <a:p>
            <a:pPr lvl="0" algn="just"/>
            <a:r>
              <a:rPr lang="en-IN" sz="1900" dirty="0">
                <a:latin typeface="Times New Roman" panose="02020603050405020304" pitchFamily="18" charset="0"/>
                <a:cs typeface="Times New Roman" panose="02020603050405020304" pitchFamily="18" charset="0"/>
              </a:rPr>
              <a:t>Allows members to </a:t>
            </a:r>
            <a:r>
              <a:rPr lang="en-IN" sz="1900" b="1" dirty="0">
                <a:latin typeface="Times New Roman" panose="02020603050405020304" pitchFamily="18" charset="0"/>
                <a:cs typeface="Times New Roman" panose="02020603050405020304" pitchFamily="18" charset="0"/>
              </a:rPr>
              <a:t>view their membership details, attendance, workout plans, diet plans, and payment information</a:t>
            </a:r>
            <a:r>
              <a:rPr lang="en-IN" sz="1900" dirty="0">
                <a:latin typeface="Times New Roman" panose="02020603050405020304" pitchFamily="18" charset="0"/>
                <a:cs typeface="Times New Roman" panose="02020603050405020304" pitchFamily="18" charset="0"/>
              </a:rPr>
              <a:t>. </a:t>
            </a:r>
          </a:p>
          <a:p>
            <a:pPr lvl="0" algn="just"/>
            <a:r>
              <a:rPr lang="en-IN" sz="1900" dirty="0">
                <a:latin typeface="Times New Roman" panose="02020603050405020304" pitchFamily="18" charset="0"/>
                <a:cs typeface="Times New Roman" panose="02020603050405020304" pitchFamily="18" charset="0"/>
              </a:rPr>
              <a:t>Provides </a:t>
            </a:r>
            <a:r>
              <a:rPr lang="en-IN" sz="1900" b="1" dirty="0">
                <a:latin typeface="Times New Roman" panose="02020603050405020304" pitchFamily="18" charset="0"/>
                <a:cs typeface="Times New Roman" panose="02020603050405020304" pitchFamily="18" charset="0"/>
              </a:rPr>
              <a:t>fitness progress tracking</a:t>
            </a:r>
            <a:r>
              <a:rPr lang="en-IN" sz="1900" dirty="0">
                <a:latin typeface="Times New Roman" panose="02020603050405020304" pitchFamily="18" charset="0"/>
                <a:cs typeface="Times New Roman" panose="02020603050405020304" pitchFamily="18" charset="0"/>
              </a:rPr>
              <a:t> to help members monitor their development over time. </a:t>
            </a:r>
          </a:p>
          <a:p>
            <a:pPr lvl="0" algn="just"/>
            <a:r>
              <a:rPr lang="en-IN" sz="1900" dirty="0">
                <a:latin typeface="Times New Roman" panose="02020603050405020304" pitchFamily="18" charset="0"/>
                <a:cs typeface="Times New Roman" panose="02020603050405020304" pitchFamily="18" charset="0"/>
              </a:rPr>
              <a:t>Reduces </a:t>
            </a:r>
            <a:r>
              <a:rPr lang="en-IN" sz="1900" b="1" dirty="0">
                <a:latin typeface="Times New Roman" panose="02020603050405020304" pitchFamily="18" charset="0"/>
                <a:cs typeface="Times New Roman" panose="02020603050405020304" pitchFamily="18" charset="0"/>
              </a:rPr>
              <a:t>paperwork and manual data entry</a:t>
            </a:r>
            <a:r>
              <a:rPr lang="en-IN" sz="1900" dirty="0">
                <a:latin typeface="Times New Roman" panose="02020603050405020304" pitchFamily="18" charset="0"/>
                <a:cs typeface="Times New Roman" panose="02020603050405020304" pitchFamily="18" charset="0"/>
              </a:rPr>
              <a:t>, minimizing errors and saving time. </a:t>
            </a:r>
          </a:p>
          <a:p>
            <a:pPr lvl="0" algn="just"/>
            <a:r>
              <a:rPr lang="en-IN" sz="1900" dirty="0">
                <a:latin typeface="Times New Roman" panose="02020603050405020304" pitchFamily="18" charset="0"/>
                <a:cs typeface="Times New Roman" panose="02020603050405020304" pitchFamily="18" charset="0"/>
              </a:rPr>
              <a:t>Provides a common platform for better </a:t>
            </a:r>
            <a:r>
              <a:rPr lang="en-IN" sz="1900" b="1" dirty="0">
                <a:latin typeface="Times New Roman" panose="02020603050405020304" pitchFamily="18" charset="0"/>
                <a:cs typeface="Times New Roman" panose="02020603050405020304" pitchFamily="18" charset="0"/>
              </a:rPr>
              <a:t>communication and coordination between administrators, trainers, and members</a:t>
            </a:r>
            <a:r>
              <a:rPr lang="en-IN" sz="1900" dirty="0">
                <a:latin typeface="Times New Roman" panose="02020603050405020304" pitchFamily="18" charset="0"/>
                <a:cs typeface="Times New Roman" panose="02020603050405020304" pitchFamily="18" charset="0"/>
              </a:rPr>
              <a:t>. </a:t>
            </a:r>
          </a:p>
          <a:p>
            <a:endParaRPr lang="en-US" sz="2100"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a:bodyPr>
          <a:lstStyle/>
          <a:p>
            <a:pPr marL="0" indent="0" algn="just">
              <a:buNone/>
            </a:pPr>
            <a:r>
              <a:rPr lang="en-IN" sz="2200" dirty="0"/>
              <a:t>The main objective of the Gym &amp; Fitness Club Management System is to develop a centralized and user-friendly digital platform that efficiently manages the major activities of a fitness club. The system aims to simplify membership management, subscription renewals, attendance tracking, payment management, trainer and fitness class scheduling, and the maintenance of member records. It also aims to enable trainers to provide personalized workout and diet plans while allowing members to access their fitness information and monitor their progress. By integrating administrators, trainers, and members into a single platform, the system seeks to reduce paperwork and manual effort, minimize errors, improve data accessibility and accuracy, and provide a more organized and convenient fitness management experience.</a:t>
            </a:r>
          </a:p>
          <a:p>
            <a:endParaRPr lang="en-US" sz="2200"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normAutofit/>
          </a:bodyPr>
          <a:lstStyle/>
          <a:p>
            <a:pPr marL="457200" lvl="1" indent="0">
              <a:buNone/>
            </a:pPr>
            <a:r>
              <a:rPr lang="en-IN" b="1" dirty="0"/>
              <a:t>ADMIN MODULE</a:t>
            </a:r>
            <a:r>
              <a:rPr lang="en-IN" dirty="0"/>
              <a:t> — Manage members, trainers, memberships, payments and gym operations.</a:t>
            </a:r>
            <a:br>
              <a:rPr lang="en-IN" dirty="0"/>
            </a:br>
            <a:r>
              <a:rPr lang="en-IN" b="1" dirty="0"/>
              <a:t>MEMBER MODULE</a:t>
            </a:r>
            <a:r>
              <a:rPr lang="en-IN" dirty="0"/>
              <a:t> — Access membership, attendance, payments, plans and progress.</a:t>
            </a:r>
            <a:br>
              <a:rPr lang="en-IN" dirty="0"/>
            </a:br>
            <a:r>
              <a:rPr lang="en-IN" b="1" dirty="0"/>
              <a:t>TRAINER MODULE</a:t>
            </a:r>
            <a:r>
              <a:rPr lang="en-IN" dirty="0"/>
              <a:t> — Manage members, workout/diet plans and schedules.</a:t>
            </a:r>
            <a:br>
              <a:rPr lang="en-IN" dirty="0"/>
            </a:br>
            <a:r>
              <a:rPr lang="en-IN" b="1" dirty="0"/>
              <a:t>MEMBERSHIP MODULE</a:t>
            </a:r>
            <a:r>
              <a:rPr lang="en-IN" dirty="0"/>
              <a:t> — Manage plans, subscriptions and renewals.</a:t>
            </a:r>
            <a:br>
              <a:rPr lang="en-IN" dirty="0"/>
            </a:br>
            <a:r>
              <a:rPr lang="en-IN" b="1" dirty="0"/>
              <a:t>ATTENDANCE MODULE</a:t>
            </a:r>
            <a:r>
              <a:rPr lang="en-IN" dirty="0"/>
              <a:t> — QR-based digital attendance management.</a:t>
            </a:r>
            <a:br>
              <a:rPr lang="en-IN" dirty="0"/>
            </a:br>
            <a:r>
              <a:rPr lang="en-IN" b="1" dirty="0"/>
              <a:t>PAYMENT MODULE</a:t>
            </a:r>
            <a:r>
              <a:rPr lang="en-IN" dirty="0"/>
              <a:t> — Online payments and dues using </a:t>
            </a:r>
            <a:r>
              <a:rPr lang="en-IN" dirty="0" err="1"/>
              <a:t>Razorpay</a:t>
            </a:r>
            <a:r>
              <a:rPr lang="en-IN" dirty="0"/>
              <a:t>.</a:t>
            </a:r>
            <a:br>
              <a:rPr lang="en-IN" dirty="0"/>
            </a:br>
            <a:r>
              <a:rPr lang="en-IN" b="1" dirty="0"/>
              <a:t>WORKOUT &amp; DIET MODULE</a:t>
            </a:r>
            <a:r>
              <a:rPr lang="en-IN" dirty="0"/>
              <a:t> — Personalized fitness and diet plans.</a:t>
            </a:r>
            <a:br>
              <a:rPr lang="en-IN" dirty="0"/>
            </a:br>
            <a:r>
              <a:rPr lang="en-IN" b="1" dirty="0"/>
              <a:t>SCHEDULE &amp; CLASS MODULE</a:t>
            </a:r>
            <a:r>
              <a:rPr lang="en-IN" dirty="0"/>
              <a:t> — Trainer availability and fitness class scheduling.</a:t>
            </a:r>
            <a:br>
              <a:rPr lang="en-IN" dirty="0"/>
            </a:br>
            <a:r>
              <a:rPr lang="en-IN" b="1" dirty="0"/>
              <a:t>PROGRESS TRACKING MODULE</a:t>
            </a:r>
            <a:r>
              <a:rPr lang="en-IN" dirty="0"/>
              <a:t> — Monitor member fitness development.</a:t>
            </a:r>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graphicFrame>
        <p:nvGraphicFramePr>
          <p:cNvPr id="9" name="Table 8">
            <a:extLst>
              <a:ext uri="{FF2B5EF4-FFF2-40B4-BE49-F238E27FC236}">
                <a16:creationId xmlns:a16="http://schemas.microsoft.com/office/drawing/2014/main" id="{FEF75411-5A41-86B5-C632-84C7524AAB97}"/>
              </a:ext>
            </a:extLst>
          </p:cNvPr>
          <p:cNvGraphicFramePr>
            <a:graphicFrameLocks noGrp="1"/>
          </p:cNvGraphicFramePr>
          <p:nvPr>
            <p:extLst>
              <p:ext uri="{D42A27DB-BD31-4B8C-83A1-F6EECF244321}">
                <p14:modId xmlns:p14="http://schemas.microsoft.com/office/powerpoint/2010/main" val="892381073"/>
              </p:ext>
            </p:extLst>
          </p:nvPr>
        </p:nvGraphicFramePr>
        <p:xfrm>
          <a:off x="966216" y="1417320"/>
          <a:ext cx="10259568" cy="4517137"/>
        </p:xfrm>
        <a:graphic>
          <a:graphicData uri="http://schemas.openxmlformats.org/drawingml/2006/table">
            <a:tbl>
              <a:tblPr firstRow="1" bandRow="1">
                <a:tableStyleId>{E8034E78-7F5D-4C2E-B375-FC64B27BC917}</a:tableStyleId>
              </a:tblPr>
              <a:tblGrid>
                <a:gridCol w="3419856">
                  <a:extLst>
                    <a:ext uri="{9D8B030D-6E8A-4147-A177-3AD203B41FA5}">
                      <a16:colId xmlns:a16="http://schemas.microsoft.com/office/drawing/2014/main" val="4099951959"/>
                    </a:ext>
                  </a:extLst>
                </a:gridCol>
                <a:gridCol w="3419856">
                  <a:extLst>
                    <a:ext uri="{9D8B030D-6E8A-4147-A177-3AD203B41FA5}">
                      <a16:colId xmlns:a16="http://schemas.microsoft.com/office/drawing/2014/main" val="2656600915"/>
                    </a:ext>
                  </a:extLst>
                </a:gridCol>
                <a:gridCol w="3419856">
                  <a:extLst>
                    <a:ext uri="{9D8B030D-6E8A-4147-A177-3AD203B41FA5}">
                      <a16:colId xmlns:a16="http://schemas.microsoft.com/office/drawing/2014/main" val="871453108"/>
                    </a:ext>
                  </a:extLst>
                </a:gridCol>
              </a:tblGrid>
              <a:tr h="937930">
                <a:tc>
                  <a:txBody>
                    <a:bodyPr/>
                    <a:lstStyle/>
                    <a:p>
                      <a:r>
                        <a:rPr lang="en-IN" b="1" dirty="0">
                          <a:solidFill>
                            <a:srgbClr val="FF0000"/>
                          </a:solidFill>
                        </a:rPr>
                        <a:t>Category</a:t>
                      </a:r>
                      <a:endParaRPr lang="en-IN" dirty="0"/>
                    </a:p>
                  </a:txBody>
                  <a:tcPr/>
                </a:tc>
                <a:tc>
                  <a:txBody>
                    <a:bodyPr/>
                    <a:lstStyle/>
                    <a:p>
                      <a:r>
                        <a:rPr lang="en-IN" b="1" dirty="0">
                          <a:solidFill>
                            <a:srgbClr val="FF0000"/>
                          </a:solidFill>
                        </a:rPr>
                        <a:t>Technology</a:t>
                      </a:r>
                      <a:endParaRPr lang="en-IN" dirty="0"/>
                    </a:p>
                  </a:txBody>
                  <a:tcPr/>
                </a:tc>
                <a:tc>
                  <a:txBody>
                    <a:bodyPr/>
                    <a:lstStyle/>
                    <a:p>
                      <a:r>
                        <a:rPr lang="en-IN" b="1" dirty="0">
                          <a:solidFill>
                            <a:srgbClr val="FF0000"/>
                          </a:solidFill>
                        </a:rPr>
                        <a:t>Purpose</a:t>
                      </a:r>
                      <a:endParaRPr lang="en-IN" dirty="0"/>
                    </a:p>
                  </a:txBody>
                  <a:tcPr/>
                </a:tc>
                <a:extLst>
                  <a:ext uri="{0D108BD9-81ED-4DB2-BD59-A6C34878D82A}">
                    <a16:rowId xmlns:a16="http://schemas.microsoft.com/office/drawing/2014/main" val="1054885029"/>
                  </a:ext>
                </a:extLst>
              </a:tr>
              <a:tr h="532143">
                <a:tc>
                  <a:txBody>
                    <a:bodyPr/>
                    <a:lstStyle/>
                    <a:p>
                      <a:pPr>
                        <a:buNone/>
                      </a:pPr>
                      <a:r>
                        <a:rPr lang="en-IN" dirty="0">
                          <a:solidFill>
                            <a:schemeClr val="tx1"/>
                          </a:solidFill>
                        </a:rPr>
                        <a:t>Frontend</a:t>
                      </a:r>
                    </a:p>
                  </a:txBody>
                  <a:tcPr anchor="ctr"/>
                </a:tc>
                <a:tc>
                  <a:txBody>
                    <a:bodyPr/>
                    <a:lstStyle/>
                    <a:p>
                      <a:pPr>
                        <a:buNone/>
                      </a:pPr>
                      <a:r>
                        <a:rPr lang="en-IN" dirty="0">
                          <a:solidFill>
                            <a:schemeClr val="tx1"/>
                          </a:solidFill>
                        </a:rPr>
                        <a:t>React.js</a:t>
                      </a:r>
                    </a:p>
                  </a:txBody>
                  <a:tcPr anchor="ctr"/>
                </a:tc>
                <a:tc>
                  <a:txBody>
                    <a:bodyPr/>
                    <a:lstStyle/>
                    <a:p>
                      <a:pPr>
                        <a:buNone/>
                      </a:pPr>
                      <a:r>
                        <a:rPr lang="en-IN" dirty="0">
                          <a:solidFill>
                            <a:schemeClr val="tx1"/>
                          </a:solidFill>
                        </a:rPr>
                        <a:t>User interface</a:t>
                      </a:r>
                    </a:p>
                  </a:txBody>
                  <a:tcPr anchor="ctr"/>
                </a:tc>
                <a:extLst>
                  <a:ext uri="{0D108BD9-81ED-4DB2-BD59-A6C34878D82A}">
                    <a16:rowId xmlns:a16="http://schemas.microsoft.com/office/drawing/2014/main" val="867853203"/>
                  </a:ext>
                </a:extLst>
              </a:tr>
              <a:tr h="532143">
                <a:tc>
                  <a:txBody>
                    <a:bodyPr/>
                    <a:lstStyle/>
                    <a:p>
                      <a:pPr>
                        <a:buNone/>
                      </a:pPr>
                      <a:r>
                        <a:rPr lang="en-IN" dirty="0">
                          <a:solidFill>
                            <a:schemeClr val="tx1"/>
                          </a:solidFill>
                        </a:rPr>
                        <a:t>Backend</a:t>
                      </a:r>
                    </a:p>
                  </a:txBody>
                  <a:tcPr anchor="ctr"/>
                </a:tc>
                <a:tc>
                  <a:txBody>
                    <a:bodyPr/>
                    <a:lstStyle/>
                    <a:p>
                      <a:pPr>
                        <a:buNone/>
                      </a:pPr>
                      <a:r>
                        <a:rPr lang="en-IN">
                          <a:solidFill>
                            <a:schemeClr val="tx1"/>
                          </a:solidFill>
                        </a:rPr>
                        <a:t>Node.js</a:t>
                      </a:r>
                    </a:p>
                  </a:txBody>
                  <a:tcPr anchor="ctr"/>
                </a:tc>
                <a:tc>
                  <a:txBody>
                    <a:bodyPr/>
                    <a:lstStyle/>
                    <a:p>
                      <a:pPr>
                        <a:buNone/>
                      </a:pPr>
                      <a:r>
                        <a:rPr lang="en-IN" dirty="0">
                          <a:solidFill>
                            <a:schemeClr val="tx1"/>
                          </a:solidFill>
                        </a:rPr>
                        <a:t>Server-side runtime</a:t>
                      </a:r>
                    </a:p>
                  </a:txBody>
                  <a:tcPr anchor="ctr"/>
                </a:tc>
                <a:extLst>
                  <a:ext uri="{0D108BD9-81ED-4DB2-BD59-A6C34878D82A}">
                    <a16:rowId xmlns:a16="http://schemas.microsoft.com/office/drawing/2014/main" val="3619185617"/>
                  </a:ext>
                </a:extLst>
              </a:tr>
              <a:tr h="532143">
                <a:tc>
                  <a:txBody>
                    <a:bodyPr/>
                    <a:lstStyle/>
                    <a:p>
                      <a:pPr>
                        <a:buNone/>
                      </a:pPr>
                      <a:r>
                        <a:rPr lang="en-IN" dirty="0">
                          <a:solidFill>
                            <a:schemeClr val="tx1"/>
                          </a:solidFill>
                        </a:rPr>
                        <a:t>Backend Framework</a:t>
                      </a:r>
                    </a:p>
                  </a:txBody>
                  <a:tcPr anchor="ctr"/>
                </a:tc>
                <a:tc>
                  <a:txBody>
                    <a:bodyPr/>
                    <a:lstStyle/>
                    <a:p>
                      <a:pPr>
                        <a:buNone/>
                      </a:pPr>
                      <a:r>
                        <a:rPr lang="en-IN">
                          <a:solidFill>
                            <a:schemeClr val="tx1"/>
                          </a:solidFill>
                        </a:rPr>
                        <a:t>Express.js</a:t>
                      </a:r>
                    </a:p>
                  </a:txBody>
                  <a:tcPr anchor="ctr"/>
                </a:tc>
                <a:tc>
                  <a:txBody>
                    <a:bodyPr/>
                    <a:lstStyle/>
                    <a:p>
                      <a:pPr>
                        <a:buNone/>
                      </a:pPr>
                      <a:r>
                        <a:rPr lang="en-IN" dirty="0">
                          <a:solidFill>
                            <a:schemeClr val="tx1"/>
                          </a:solidFill>
                        </a:rPr>
                        <a:t>API &amp; server operations</a:t>
                      </a:r>
                    </a:p>
                  </a:txBody>
                  <a:tcPr anchor="ctr"/>
                </a:tc>
                <a:extLst>
                  <a:ext uri="{0D108BD9-81ED-4DB2-BD59-A6C34878D82A}">
                    <a16:rowId xmlns:a16="http://schemas.microsoft.com/office/drawing/2014/main" val="2429017117"/>
                  </a:ext>
                </a:extLst>
              </a:tr>
              <a:tr h="918492">
                <a:tc>
                  <a:txBody>
                    <a:bodyPr/>
                    <a:lstStyle/>
                    <a:p>
                      <a:pPr>
                        <a:buNone/>
                      </a:pPr>
                      <a:r>
                        <a:rPr lang="en-IN" dirty="0">
                          <a:solidFill>
                            <a:schemeClr val="tx1"/>
                          </a:solidFill>
                        </a:rPr>
                        <a:t>Database</a:t>
                      </a:r>
                    </a:p>
                  </a:txBody>
                  <a:tcPr anchor="ctr"/>
                </a:tc>
                <a:tc>
                  <a:txBody>
                    <a:bodyPr/>
                    <a:lstStyle/>
                    <a:p>
                      <a:pPr>
                        <a:buNone/>
                      </a:pPr>
                      <a:r>
                        <a:rPr lang="en-IN" dirty="0">
                          <a:solidFill>
                            <a:schemeClr val="tx1"/>
                          </a:solidFill>
                        </a:rPr>
                        <a:t>MySQL</a:t>
                      </a:r>
                    </a:p>
                  </a:txBody>
                  <a:tcPr anchor="ctr"/>
                </a:tc>
                <a:tc>
                  <a:txBody>
                    <a:bodyPr/>
                    <a:lstStyle/>
                    <a:p>
                      <a:pPr>
                        <a:buNone/>
                      </a:pPr>
                      <a:r>
                        <a:rPr lang="en-IN" dirty="0">
                          <a:solidFill>
                            <a:schemeClr val="tx1"/>
                          </a:solidFill>
                        </a:rPr>
                        <a:t>Data storage &amp; management</a:t>
                      </a:r>
                    </a:p>
                  </a:txBody>
                  <a:tcPr anchor="ctr"/>
                </a:tc>
                <a:extLst>
                  <a:ext uri="{0D108BD9-81ED-4DB2-BD59-A6C34878D82A}">
                    <a16:rowId xmlns:a16="http://schemas.microsoft.com/office/drawing/2014/main" val="3702317824"/>
                  </a:ext>
                </a:extLst>
              </a:tr>
              <a:tr h="532143">
                <a:tc>
                  <a:txBody>
                    <a:bodyPr/>
                    <a:lstStyle/>
                    <a:p>
                      <a:pPr>
                        <a:buNone/>
                      </a:pPr>
                      <a:r>
                        <a:rPr lang="en-IN">
                          <a:solidFill>
                            <a:schemeClr val="tx1"/>
                          </a:solidFill>
                        </a:rPr>
                        <a:t>Payment</a:t>
                      </a:r>
                    </a:p>
                  </a:txBody>
                  <a:tcPr anchor="ctr"/>
                </a:tc>
                <a:tc>
                  <a:txBody>
                    <a:bodyPr/>
                    <a:lstStyle/>
                    <a:p>
                      <a:pPr>
                        <a:buNone/>
                      </a:pPr>
                      <a:r>
                        <a:rPr lang="en-IN" dirty="0" err="1">
                          <a:solidFill>
                            <a:schemeClr val="tx1"/>
                          </a:solidFill>
                        </a:rPr>
                        <a:t>Razorpay</a:t>
                      </a:r>
                      <a:endParaRPr lang="en-IN" dirty="0">
                        <a:solidFill>
                          <a:schemeClr val="tx1"/>
                        </a:solidFill>
                      </a:endParaRPr>
                    </a:p>
                  </a:txBody>
                  <a:tcPr anchor="ctr"/>
                </a:tc>
                <a:tc>
                  <a:txBody>
                    <a:bodyPr/>
                    <a:lstStyle/>
                    <a:p>
                      <a:pPr>
                        <a:buNone/>
                      </a:pPr>
                      <a:r>
                        <a:rPr lang="en-IN" dirty="0">
                          <a:solidFill>
                            <a:schemeClr val="tx1"/>
                          </a:solidFill>
                        </a:rPr>
                        <a:t>Online payments</a:t>
                      </a:r>
                    </a:p>
                  </a:txBody>
                  <a:tcPr anchor="ctr"/>
                </a:tc>
                <a:extLst>
                  <a:ext uri="{0D108BD9-81ED-4DB2-BD59-A6C34878D82A}">
                    <a16:rowId xmlns:a16="http://schemas.microsoft.com/office/drawing/2014/main" val="772734057"/>
                  </a:ext>
                </a:extLst>
              </a:tr>
              <a:tr h="532143">
                <a:tc>
                  <a:txBody>
                    <a:bodyPr/>
                    <a:lstStyle/>
                    <a:p>
                      <a:pPr>
                        <a:buNone/>
                      </a:pPr>
                      <a:r>
                        <a:rPr lang="en-IN">
                          <a:solidFill>
                            <a:schemeClr val="tx1"/>
                          </a:solidFill>
                        </a:rPr>
                        <a:t>Attendance</a:t>
                      </a:r>
                    </a:p>
                  </a:txBody>
                  <a:tcPr anchor="ctr"/>
                </a:tc>
                <a:tc>
                  <a:txBody>
                    <a:bodyPr/>
                    <a:lstStyle/>
                    <a:p>
                      <a:pPr>
                        <a:buNone/>
                      </a:pPr>
                      <a:r>
                        <a:rPr lang="en-IN" dirty="0">
                          <a:solidFill>
                            <a:schemeClr val="tx1"/>
                          </a:solidFill>
                        </a:rPr>
                        <a:t>QR Code</a:t>
                      </a:r>
                    </a:p>
                  </a:txBody>
                  <a:tcPr anchor="ctr"/>
                </a:tc>
                <a:tc>
                  <a:txBody>
                    <a:bodyPr/>
                    <a:lstStyle/>
                    <a:p>
                      <a:pPr>
                        <a:buNone/>
                      </a:pPr>
                      <a:r>
                        <a:rPr lang="en-IN" dirty="0">
                          <a:solidFill>
                            <a:schemeClr val="tx1"/>
                          </a:solidFill>
                        </a:rPr>
                        <a:t>Digital attendance</a:t>
                      </a:r>
                    </a:p>
                  </a:txBody>
                  <a:tcPr anchor="ctr"/>
                </a:tc>
                <a:extLst>
                  <a:ext uri="{0D108BD9-81ED-4DB2-BD59-A6C34878D82A}">
                    <a16:rowId xmlns:a16="http://schemas.microsoft.com/office/drawing/2014/main" val="1362065296"/>
                  </a:ext>
                </a:extLst>
              </a:tr>
            </a:tbl>
          </a:graphicData>
        </a:graphic>
      </p:graphicFrame>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4" name="Content Placeholder 3">
            <a:extLst>
              <a:ext uri="{FF2B5EF4-FFF2-40B4-BE49-F238E27FC236}">
                <a16:creationId xmlns:a16="http://schemas.microsoft.com/office/drawing/2014/main" id="{D440F2FD-B824-35C5-9EAA-5AF510938C36}"/>
              </a:ext>
            </a:extLst>
          </p:cNvPr>
          <p:cNvSpPr>
            <a:spLocks noGrp="1"/>
          </p:cNvSpPr>
          <p:nvPr/>
        </p:nvSpPr>
        <p:spPr>
          <a:xfrm>
            <a:off x="838200" y="125333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5" name="Content Placeholder 3">
            <a:extLst>
              <a:ext uri="{FF2B5EF4-FFF2-40B4-BE49-F238E27FC236}">
                <a16:creationId xmlns:a16="http://schemas.microsoft.com/office/drawing/2014/main" id="{D440F2FD-B824-35C5-9EAA-5AF510938C36}"/>
              </a:ext>
            </a:extLst>
          </p:cNvPr>
          <p:cNvSpPr>
            <a:spLocks noGrp="1"/>
          </p:cNvSpPr>
          <p:nvPr/>
        </p:nvSpPr>
        <p:spPr>
          <a:xfrm>
            <a:off x="694944" y="1414875"/>
            <a:ext cx="1081125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sp>
        <p:nvSpPr>
          <p:cNvPr id="6" name="Content Placeholder 3">
            <a:extLst>
              <a:ext uri="{FF2B5EF4-FFF2-40B4-BE49-F238E27FC236}">
                <a16:creationId xmlns:a16="http://schemas.microsoft.com/office/drawing/2014/main" id="{D440F2FD-B824-35C5-9EAA-5AF510938C36}"/>
              </a:ext>
            </a:extLst>
          </p:cNvPr>
          <p:cNvSpPr>
            <a:spLocks noGrp="1"/>
          </p:cNvSpPr>
          <p:nvPr/>
        </p:nvSpPr>
        <p:spPr>
          <a:xfrm>
            <a:off x="990600" y="1405731"/>
            <a:ext cx="105156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IN" sz="2100" b="1" dirty="0"/>
              <a:t>Conclusion</a:t>
            </a:r>
          </a:p>
          <a:p>
            <a:pPr marL="0" indent="0" algn="just">
              <a:buNone/>
            </a:pPr>
            <a:r>
              <a:rPr lang="en-IN" sz="2100" dirty="0"/>
              <a:t>The Gym &amp; Fitness Club Management System provides a centralized and efficient solution for managing the major activities of a fitness club. The system integrates membership management, renewals, QR-based attendance, trainer and fitness class scheduling, workout and diet plans, online payments, and fitness progress tracking into a single platform. By connecting administrators, trainers, and members, the system reduces manual work and paperwork while improving data accessibility, accuracy, coordination, and transparency. Overall, the proposed system provides a convenient and organized digital environment for managing gym operations and supporting members in their fitness journey.</a:t>
            </a:r>
          </a:p>
          <a:p>
            <a:pPr algn="just"/>
            <a:r>
              <a:rPr lang="en-IN" sz="2100" b="1" dirty="0"/>
              <a:t>Future Scope</a:t>
            </a:r>
          </a:p>
          <a:p>
            <a:pPr marL="0" indent="0" algn="just">
              <a:buNone/>
            </a:pPr>
            <a:r>
              <a:rPr lang="en-IN" sz="2100" dirty="0"/>
              <a:t>The system can be further enhanced by expanding its fitness management and member engagement capabilities. Future improvements can include more advanced fitness progress analysis, enhanced communication between trainers and members, improved scheduling and notification features, and additional personalized fitness services. These enhancements can make the platform more comprehensive and provide a better experience for both gym staff and members.</a:t>
            </a: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8293</TotalTime>
  <Words>1353</Words>
  <Application>Microsoft Office PowerPoint</Application>
  <PresentationFormat>Widescreen</PresentationFormat>
  <Paragraphs>122</Paragraphs>
  <Slides>12</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Calibri Light</vt:lpstr>
      <vt:lpstr>Times New Roman</vt:lpstr>
      <vt:lpstr>Office Theme</vt:lpstr>
      <vt:lpstr>Custom Design</vt:lpstr>
      <vt:lpstr> 1st  REVIEW  Gym &amp; Fitness Club Management System </vt:lpstr>
      <vt:lpstr>GROUP NUMBER:1</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Alluru Amulya</cp:lastModifiedBy>
  <cp:revision>97</cp:revision>
  <dcterms:created xsi:type="dcterms:W3CDTF">2022-05-20T10:20:31Z</dcterms:created>
  <dcterms:modified xsi:type="dcterms:W3CDTF">2026-08-17T16:41:32Z</dcterms:modified>
</cp:coreProperties>
</file>